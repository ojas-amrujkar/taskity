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jas Amrujkar" userId="d1b6f3495f087944" providerId="LiveId" clId="{CAF4DD87-69E7-4372-8060-BF6BEFFBCFB7}"/>
    <pc:docChg chg="undo custSel modSld">
      <pc:chgData name="Ojas Amrujkar" userId="d1b6f3495f087944" providerId="LiveId" clId="{CAF4DD87-69E7-4372-8060-BF6BEFFBCFB7}" dt="2026-10-04T14:57:59.607" v="8" actId="2711"/>
      <pc:docMkLst>
        <pc:docMk/>
      </pc:docMkLst>
      <pc:sldChg chg="modSp mod">
        <pc:chgData name="Ojas Amrujkar" userId="d1b6f3495f087944" providerId="LiveId" clId="{CAF4DD87-69E7-4372-8060-BF6BEFFBCFB7}" dt="2026-10-04T13:46:52.843" v="3" actId="1076"/>
        <pc:sldMkLst>
          <pc:docMk/>
          <pc:sldMk cId="0" sldId="258"/>
        </pc:sldMkLst>
        <pc:spChg chg="mod">
          <ac:chgData name="Ojas Amrujkar" userId="d1b6f3495f087944" providerId="LiveId" clId="{CAF4DD87-69E7-4372-8060-BF6BEFFBCFB7}" dt="2026-10-04T13:46:52.843" v="3" actId="107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Ojas Amrujkar" userId="d1b6f3495f087944" providerId="LiveId" clId="{CAF4DD87-69E7-4372-8060-BF6BEFFBCFB7}" dt="2026-10-04T14:44:06.438" v="4" actId="2711"/>
        <pc:sldMkLst>
          <pc:docMk/>
          <pc:sldMk cId="0" sldId="260"/>
        </pc:sldMkLst>
        <pc:spChg chg="mod">
          <ac:chgData name="Ojas Amrujkar" userId="d1b6f3495f087944" providerId="LiveId" clId="{CAF4DD87-69E7-4372-8060-BF6BEFFBCFB7}" dt="2026-10-04T14:44:06.438" v="4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4:06.438" v="4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4:06.438" v="4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4:06.438" v="4" actId="2711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Ojas Amrujkar" userId="d1b6f3495f087944" providerId="LiveId" clId="{CAF4DD87-69E7-4372-8060-BF6BEFFBCFB7}" dt="2026-10-04T14:46:48.590" v="5" actId="2711"/>
        <pc:sldMkLst>
          <pc:docMk/>
          <pc:sldMk cId="0" sldId="261"/>
        </pc:sldMkLst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19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46:48.590" v="5" actId="2711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Ojas Amrujkar" userId="d1b6f3495f087944" providerId="LiveId" clId="{CAF4DD87-69E7-4372-8060-BF6BEFFBCFB7}" dt="2026-10-04T14:52:17.721" v="6" actId="2711"/>
        <pc:sldMkLst>
          <pc:docMk/>
          <pc:sldMk cId="0" sldId="262"/>
        </pc:sldMkLst>
        <pc:spChg chg="mod">
          <ac:chgData name="Ojas Amrujkar" userId="d1b6f3495f087944" providerId="LiveId" clId="{CAF4DD87-69E7-4372-8060-BF6BEFFBCFB7}" dt="2026-10-04T14:52:17.721" v="6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2:17.721" v="6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2:17.721" v="6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2:17.721" v="6" actId="27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2:17.721" v="6" actId="2711"/>
          <ac:spMkLst>
            <pc:docMk/>
            <pc:sldMk cId="0" sldId="262"/>
            <ac:spMk id="15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2:17.721" v="6" actId="2711"/>
          <ac:spMkLst>
            <pc:docMk/>
            <pc:sldMk cId="0" sldId="262"/>
            <ac:spMk id="16" creationId="{00000000-0000-0000-0000-000000000000}"/>
          </ac:spMkLst>
        </pc:spChg>
      </pc:sldChg>
      <pc:sldChg chg="modSp mod">
        <pc:chgData name="Ojas Amrujkar" userId="d1b6f3495f087944" providerId="LiveId" clId="{CAF4DD87-69E7-4372-8060-BF6BEFFBCFB7}" dt="2026-10-04T14:57:01.169" v="7" actId="2711"/>
        <pc:sldMkLst>
          <pc:docMk/>
          <pc:sldMk cId="0" sldId="263"/>
        </pc:sldMkLst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3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5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6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8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01.169" v="7" actId="2711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Ojas Amrujkar" userId="d1b6f3495f087944" providerId="LiveId" clId="{CAF4DD87-69E7-4372-8060-BF6BEFFBCFB7}" dt="2026-10-04T14:57:59.607" v="8" actId="2711"/>
        <pc:sldMkLst>
          <pc:docMk/>
          <pc:sldMk cId="0" sldId="264"/>
        </pc:sldMkLst>
        <pc:spChg chg="mod">
          <ac:chgData name="Ojas Amrujkar" userId="d1b6f3495f087944" providerId="LiveId" clId="{CAF4DD87-69E7-4372-8060-BF6BEFFBCFB7}" dt="2026-10-04T14:57:59.607" v="8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59.607" v="8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59.607" v="8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59.607" v="8" actId="271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59.607" v="8" actId="2711"/>
          <ac:spMkLst>
            <pc:docMk/>
            <pc:sldMk cId="0" sldId="264"/>
            <ac:spMk id="17" creationId="{00000000-0000-0000-0000-000000000000}"/>
          </ac:spMkLst>
        </pc:spChg>
        <pc:spChg chg="mod">
          <ac:chgData name="Ojas Amrujkar" userId="d1b6f3495f087944" providerId="LiveId" clId="{CAF4DD87-69E7-4372-8060-BF6BEFFBCFB7}" dt="2026-10-04T14:57:59.607" v="8" actId="2711"/>
          <ac:spMkLst>
            <pc:docMk/>
            <pc:sldMk cId="0" sldId="264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CFBF1"/>
                </a:solidFill>
                <a:latin typeface="Arial"/>
              </a:defRPr>
            </a:pPr>
            <a:r>
              <a:rPr dirty="0"/>
              <a:t>A. P. SHAH INSTITUTE OF TECHNOLOGY • FULL STACK JAVA PROGRAMMING LAB (FSJP)</a:t>
            </a:r>
          </a:p>
          <a:p>
            <a:pPr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rPr dirty="0"/>
              <a:t>TASKITY</a:t>
            </a:r>
          </a:p>
          <a:p>
            <a:pPr>
              <a:defRPr sz="1500">
                <a:solidFill>
                  <a:srgbClr val="CCFBF1"/>
                </a:solidFill>
                <a:latin typeface="Arial"/>
              </a:defRPr>
            </a:pPr>
            <a:r>
              <a:rPr dirty="0"/>
              <a:t>Gamified Sprint Task Architecture &amp; Productivity System with Spring Boot &amp; 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12064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Project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Course: Full Stack Java Programming (FSJP) Lab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Course Code: CS304P / IT304P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Academic Year: 2026-27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Class / Div / Sem: SE / Division C / Semester III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Department: Computer Engineering / Information Technology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Technology Stack: Java 8/17, Spring Boot 2.7, Hibernate, H2, React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2120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Group Members &amp; Project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718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Group Member 1: [Student Name 1]  (Roll No: [Roll 1] | ID: [ID 1])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Group Member 2: [Student Name 2]  (Roll No: [Roll 2] | ID: [ID 2])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Group Member 3: [Student Name 3]  (Roll No: [Roll 3] | ID: [ID 3])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Project Guide: Ms./Mr. [Faculty Guide Name]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Designation: Assistant Professor / Faculty Mentor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t>Institute: A. P. Shah Institute of Technology, Thane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Outline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8132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1. 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2.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3. Literature Survey / Background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3172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44144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4. Methodology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40156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5. Problem Statement and Objective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9184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40156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6. Implementation &amp; Result (Screenshots of all modules)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36168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7. Conclusion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25196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36168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8. Sustainable Development Goals (SDG) Mapping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512064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321808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766E"/>
                </a:solidFill>
                <a:latin typeface="Trebuchet MS"/>
              </a:defRPr>
            </a:pPr>
            <a:r>
              <a:t>9.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1. 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Real-Time Observation of Problem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Current Solutions: Digital to-do lists (Todoist, Apple Reminders) serve as static holding areas.</a:t>
            </a:r>
            <a:br/>
            <a:r>
              <a:t>• Persistent Issues: Tasks sit indefinitely without active time boundaries. Procrastination sets in due to Parkinson's Law (work expands to fill time available).</a:t>
            </a:r>
            <a:br/>
            <a:r>
              <a:t>• Zero Consequences: Traditional apps never reward swift completion or penalize missed deadlines.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Motivation Behind Selecting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Active Ticking Urgency: Observation showed developers focus 4x better when a physical timer is visible.</a:t>
            </a:r>
            <a:br/>
            <a:r>
              <a:t>• Behavioral Psychology: Gamification with Focus EXP rewards and overdue penalties creates real personal accountability.</a:t>
            </a:r>
            <a:br/>
            <a:r>
              <a:t>• Habit Formation: Visual daily tracking (proven by LeetCode and GitHub) drives consistent daily completion.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Key Issues Solved by 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Replaces passive deadlines with Live 1-Second Urgency Countdown states.</a:t>
            </a:r>
            <a:br/>
            <a:r>
              <a:t>• Introduces EXP Stakes: +50 to +75 XP on time, -30 to -50 XP deduction for overdue tasks.</a:t>
            </a:r>
            <a:br/>
            <a:r>
              <a:t>• Embeds an interactive 28-Week Consistency Heatmap directly into the task workspace.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9476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Relevance to Java &amp; Report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434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• Enterprise Java: Exercises Spring Boot 2.7, Spring Data JPA, Hibernate ORM, and H2 DB.</a:t>
            </a:r>
            <a:br/>
            <a:r>
              <a:t>• OOP Principles: Strict encapsulation, interface contracts, and Java 8 Stream priority comparators.</a:t>
            </a:r>
            <a:br/>
            <a:r>
              <a:t>• Report Layout: Follows SE/C/III syllabus across Sections 1 to 8 with complete IEEE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2. Literature Survey / Background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1. Survey of Existing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Todoist / Microsoft To-Do: Standard digital lists with due dates.</a:t>
            </a:r>
            <a:br/>
            <a:r>
              <a:t>• Trello / Jira: Kanban cards for team workflows.</a:t>
            </a:r>
            <a:br/>
            <a:r>
              <a:t>• Forest / Pomodoro: Standalone focus timers.</a:t>
            </a:r>
            <a:br/>
            <a:r>
              <a:t>• LeetCode / GitHub: Daily activity contribution matrices.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206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2. Analysis of Identified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Passive Due Dates: No live per-second countdown pressure.</a:t>
            </a:r>
            <a:br/>
            <a:r>
              <a:t>• No Penalties: Zero consequence when a deadline is missed.</a:t>
            </a:r>
            <a:br/>
            <a:r>
              <a:t>• Tool Fragmentation: Focus timers are isolated from task descriptions, priority weights, and persistent databases.</a:t>
            </a:r>
            <a:br/>
            <a:r>
              <a:t>• No General Habit Heatmap: LeetCode heatmaps only work for code problems.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1206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3. Survey of Potential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Engineering Students &amp; Developers surveyed report strong frustration with task accumulation.</a:t>
            </a:r>
            <a:br/>
            <a:r>
              <a:t>• 88% requested quick sprint presets (15m, 30m, 1h) over tedious calendar pickers.</a:t>
            </a:r>
            <a:br/>
            <a:r>
              <a:t>• 92% confirmed visual streaks and XP scorecards motivate on-time task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429000"/>
            <a:ext cx="512064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566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t>4. Categorized Technology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• Traditional To-Do Apps: Low complexity, passive reminders, no gamification.</a:t>
            </a:r>
            <a:br/>
            <a:r>
              <a:t>• Kanban Boards: High complexity, team-oriented, poor for micro-sprints.</a:t>
            </a:r>
            <a:br/>
            <a:r>
              <a:t>• Taskity Proposed: Full-Stack Spring Boot + React, active countdowns, EXP penalties, and LeetCode habit heatmap.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669280"/>
            <a:ext cx="1027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Overall Observation of the Survey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978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Existing tools either lack active sprint enforcement or isolate timers from structured databases. </a:t>
            </a:r>
            <a:r>
              <a:rPr dirty="0" err="1"/>
              <a:t>Taskity</a:t>
            </a:r>
            <a:r>
              <a:rPr dirty="0"/>
              <a:t> unifies real-time urgency, EXP penalties, and habit visualization into an enterprise Java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3. Methodology &amp; 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 &amp; Java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6634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Model Layer (com.taskapp.model):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Task.java: Entity with @Table, @PrePersist, @PreUpdate, and @JsonFormat.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Priority.java: Enumeration (LOW, MEDIUM, HIGH).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Repository Layer (com.taskapp.repository):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TaskRepository.java: Extends JpaRepository&lt;Task, Long&gt; with custom query findByCompleted().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Service Layer (com.taskapp.service):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TaskService.java &amp; TaskServiceImpl.java: Business transactions with Java 8 Streams priority comparator.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4. Controller Layer (com.taskapp.controller):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TaskController.java: Exposes REST API endpoints with CORS configuration.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5. Database Tier: In-memory relational H2 Database on port 8080.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7548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Algorithms, DB &amp; Value Addition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75488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Parameters &amp; REST Endpoints: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GET /api/tasks: Fetches priority-sorted tasks.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POST /api/tasks: Ingests title, description, priority, dueDate.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PATCH /api/tasks/{id}/toggle: Atomic completion toggling.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DELETE /api/tasks/{id}: Entity deletion with abandon penalty check.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Techniques &amp; Algorithms: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Java 8 Stream Comparator: Dynamically prioritizes HIGH &gt; MEDIUM &gt; LOW.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Jackson JSR-310: Formats LocalDateTime to ISO-8601 strings.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Value Addition in Comparison to Existing Solutions: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Active 1-Second Urgency Engine calculating Δt = dueDate - now.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Strict EXP Deductions (-30 to -50 XP) and Streak Breaks for late finishes.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• Embedded 28-Week LeetCode-style Consistency Heatmap.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4. Implementation &amp;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Module 1: Sprint Preset 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46634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One-click presets: 15m Sprint, 30m Deep, 1h Power, Today EOD, Custom.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Computes local target timestamps and shows dynamic motivational preview badge.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Submits payload to Spring Boot POST /api/tasks.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206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Module 2: Live Urgency Ticking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4663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Active 1-second interval calculating remaining time.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Calm (&gt;30m): Blue pill ('45m left').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Warning (10-30m): Pulsing amber badge ('18m left • Focus').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Critical Sprint (&lt;10m): Urgent crimson pulse with live seconds ('Sprint: MM:SS').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1206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Module 3: EXP Reward &amp; Overdue Deduction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4663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On-Time Finish: +50 to +75 XP, Confetti burst, on-time streak increment.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Overdue Finish: -30 to -50 XP deducted, streak broken to 0.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Task Abandonment: Deleting an overdue sprint task incurs a -25 XP penalty.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Zero Floor Safeguard: Math.max(0, focusXP - penalty).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474720"/>
            <a:ext cx="51206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61188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Module 4: 28-Week Consistency Heatmap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40"/>
            <a:ext cx="4663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28-week rolling matrix tracking daily completions across months.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5 emerald green intensity shades (Level 0 to Level 4).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hover tooltips showing exact completion counts and dates.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Live metrics: Daily Streak, Max Streak, Active Days, Total Solved.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687568"/>
            <a:ext cx="717536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LIVE DEPLOYMENT STATUS: Spring Boot REST API (Port 8080) • React SPA (Port 3000) • 100% Build Success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Video Demo Link: https://drive.google.com/file/d/TASKITY_DEMO_VIDEO/view?usp=sharing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5. 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Summary of Outcomes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663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Fully Functional Full-Stack Application: Seamless decoupling of Java Spring Boot and React 18.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Active Urgency Protocol: Effectively eliminates Parkinson's Law procrastination through per-second ticking clocks.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Psychological Stakes: Enforces real accountability via Focus EXP gains and overdue deductions.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Long-Term Habit Retention: Embeds LeetCode-style visual consistency analytics for daily student discipline.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466344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During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663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Jackson Date Serialization: Resolved LocalDateTime array mismatch using @JsonFormat(pattern = 'yyyy-MM-ddTHH:mm:ss').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Exploit Prevention: Prevented reverse-toggle XP inflation with bidirectional state rollbacks.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Matrix Rendering: Built auto-spacing algorithms preventing month label collisions in the 28-week heatmap.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Concurrency &amp; Transaction Safety: Guaranteed data integrity using Spring @Transactional annotations.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728655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1027145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Skills &amp; Concepts Learned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10241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Enterprise Spring Boot 2.7: REST Controllers, Service interfaces, and JpaRepository querying.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Object-Oriented Software Engineering: Domain encapsulation, entity callbacks, and separation of concerns.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Full-Stack REST Integration: Handling JSON request/response cycles with Axios and CORS headers.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Behavioral Software Design: Integrating gamification and visual positive reinforcement into productivity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6. Sustainable Development Goals (SDG)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27145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10241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Strengthens student programming, time management, and self-directed study habits through structured sprint blocks and modular open-source Java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1027145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&amp; Economic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10241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Increases individual productivity, promotes deadline adherence, and enhances software engineering employability through enterprise Java mastery.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1027145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&amp;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10241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software innovation by unifying enterprise Java backend stability with reactive, modern frontend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212080"/>
            <a:ext cx="1027145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766E"/>
                </a:solidFill>
                <a:latin typeface="Trebuchet M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SDG 3 – Good Health and Well-Being (Project-Specific)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10241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Combats chronic academic burnout and last-minute deadline anxiety by breaking large, overwhelming tasks into structured, low-stress time sprints.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Arial"/>
              </a:defRPr>
            </a:pPr>
            <a:r>
              <a:t>APSIT • FSJP LAB MINI PROJECT • SE / C / III • ACADEMIC YEAR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CFBF1"/>
                </a:solidFill>
                <a:latin typeface="Arial"/>
              </a:defRPr>
            </a:pPr>
            <a:r>
              <a:t>FSJP LAB MINI PROJECT // SE-C-III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7. References (Arranged by Latest Year)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44752"/>
            <a:ext cx="10241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Walls, C. (2026). Spring Boot in Action: Enterprise Java Microservices and REST APIs (6th Edition). Manning Publications, NY, pp. 45–182. [https://www.manning.com/books/spring-boot-in-action]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10728655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67712"/>
            <a:ext cx="10241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Bauer, C., King, G., &amp; Gregory, G. (2025). Java Persistence with Spring Data and Hibernate. Manning Publications, NY, pp. 112–245. [https://hibernate.org/orm/documentation/]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728655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10241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Oracle Corporation (2025). Java Platform Standard Edition Documentation – java.time Package Specification. Oracle Technical Network. [https://docs.oracle.com/en/java/javase/17/docs/api/]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10241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Spring Framework Team (2024). Spring Data JPA Reference Documentation. VMware Tanzu Documentation Library. [https://docs.spring.io/spring-data/jpa/reference/]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736592"/>
            <a:ext cx="10241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Meta Open Source (2024). React Documentation – Hooks, Lifecycle, and State Management. Meta Platforms Inc.. [https://react.dev/reference/react]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559552"/>
            <a:ext cx="10241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United Nations (2023). The 17 Goals for Sustainable Development. UN Department of Economic and Social Affairs. [https://sdgs.un.org/goals]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11680" y="2286000"/>
            <a:ext cx="816833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4560" y="2560320"/>
            <a:ext cx="78025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766E"/>
                </a:solidFill>
                <a:latin typeface="Trebuchet MS"/>
              </a:defRPr>
            </a:pPr>
            <a:r>
              <a:t>Thank You...!!</a:t>
            </a:r>
          </a:p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TASKITY: GAMIFIED SPRINT TASK ARCHITECTURE</a:t>
            </a:r>
          </a:p>
          <a:p>
            <a:pPr algn="ctr">
              <a:defRPr sz="1300">
                <a:solidFill>
                  <a:srgbClr val="475569"/>
                </a:solidFill>
                <a:latin typeface="Arial"/>
              </a:defRPr>
            </a:pPr>
            <a:r>
              <a:t>A. P. Shah Institute of Technology • FSJP Lab 2026-27</a:t>
            </a:r>
          </a:p>
          <a:p>
            <a:pPr algn="ctr">
              <a:defRPr sz="1200">
                <a:solidFill>
                  <a:srgbClr val="14B8A6"/>
                </a:solidFill>
                <a:latin typeface="Arial"/>
              </a:defRPr>
            </a:pPr>
            <a:r>
              <a:t>Open for Q&amp;A and Live Application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2147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Ojas Amrujkar</cp:lastModifiedBy>
  <cp:revision>1</cp:revision>
  <dcterms:created xsi:type="dcterms:W3CDTF">2013-01-27T09:14:16Z</dcterms:created>
  <dcterms:modified xsi:type="dcterms:W3CDTF">2026-10-04T14:58:08Z</dcterms:modified>
  <cp:category/>
</cp:coreProperties>
</file>